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64" d="100"/>
          <a:sy n="164" d="100"/>
        </p:scale>
        <p:origin x="93" y="183"/>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c5763cfbe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c5763cfbe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c5763cfbe6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c5763cfbe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c5763cfbe6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c5763cfbe6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c5945455b6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c5945455b6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c5945455b6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c5945455b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c5763cfbe6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c5763cfbe6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c5945455b6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c5945455b6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c5945455b6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c5945455b6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c5945455b6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c5945455b6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c5945455b6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c5945455b6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c5945455b6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c5945455b6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community.n8n.io/t/building-an-ai-assistant-with-my-own-knowledge-base/40255"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hyperlink" Target="https://www.zendesk.com/in/service/help-center/ai-knowledge-base/" TargetMode="External"/><Relationship Id="rId5" Type="http://schemas.openxmlformats.org/officeDocument/2006/relationships/hyperlink" Target="https://building.nubank.com/ai-solution-for-search/" TargetMode="External"/><Relationship Id="rId4" Type="http://schemas.openxmlformats.org/officeDocument/2006/relationships/hyperlink" Target="https://loisto.ai/experience/turn-your-internal-knowledge-base-to-an-intelligent-assistan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744575"/>
            <a:ext cx="8520600" cy="29142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Knowledge Storage for Retrieval Augmented Generation</a:t>
            </a:r>
            <a:endParaRPr dirty="0"/>
          </a:p>
        </p:txBody>
      </p:sp>
      <p:sp>
        <p:nvSpPr>
          <p:cNvPr id="55" name="Google Shape;55;p13"/>
          <p:cNvSpPr txBox="1">
            <a:spLocks noGrp="1"/>
          </p:cNvSpPr>
          <p:nvPr>
            <p:ph type="subTitle" idx="1"/>
          </p:nvPr>
        </p:nvSpPr>
        <p:spPr>
          <a:xfrm>
            <a:off x="311700" y="3875925"/>
            <a:ext cx="8520600" cy="792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IN" sz="1400" dirty="0"/>
              <a:t>B</a:t>
            </a:r>
            <a:r>
              <a:rPr lang="en" sz="1400" dirty="0"/>
              <a:t>y-</a:t>
            </a:r>
          </a:p>
          <a:p>
            <a:pPr marL="0" lvl="0" indent="0" algn="l" rtl="0">
              <a:spcBef>
                <a:spcPts val="0"/>
              </a:spcBef>
              <a:spcAft>
                <a:spcPts val="0"/>
              </a:spcAft>
              <a:buNone/>
            </a:pPr>
            <a:r>
              <a:rPr lang="en" sz="1400" dirty="0"/>
              <a:t>Asmit Kumar Tyagi</a:t>
            </a:r>
            <a:endParaRPr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Query on trained data</a:t>
            </a:r>
            <a:endParaRPr/>
          </a:p>
          <a:p>
            <a:pPr marL="0" lvl="0" indent="0" algn="l" rtl="0">
              <a:spcBef>
                <a:spcPts val="0"/>
              </a:spcBef>
              <a:spcAft>
                <a:spcPts val="0"/>
              </a:spcAft>
              <a:buNone/>
            </a:pPr>
            <a:endParaRPr/>
          </a:p>
        </p:txBody>
      </p:sp>
      <p:sp>
        <p:nvSpPr>
          <p:cNvPr id="61" name="Google Shape;61;p14"/>
          <p:cNvSpPr txBox="1">
            <a:spLocks noGrp="1"/>
          </p:cNvSpPr>
          <p:nvPr>
            <p:ph type="body" idx="1"/>
          </p:nvPr>
        </p:nvSpPr>
        <p:spPr>
          <a:xfrm>
            <a:off x="311700" y="1516750"/>
            <a:ext cx="2734200" cy="3423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1200"/>
              </a:spcAft>
              <a:buSzPts val="358"/>
              <a:buNone/>
            </a:pPr>
            <a:r>
              <a:rPr lang="en" sz="1200"/>
              <a:t>Without additional context</a:t>
            </a:r>
            <a:endParaRPr sz="1200"/>
          </a:p>
        </p:txBody>
      </p:sp>
      <p:pic>
        <p:nvPicPr>
          <p:cNvPr id="62" name="Google Shape;62;p14"/>
          <p:cNvPicPr preferRelativeResize="0"/>
          <p:nvPr/>
        </p:nvPicPr>
        <p:blipFill>
          <a:blip r:embed="rId3">
            <a:alphaModFix/>
          </a:blip>
          <a:stretch>
            <a:fillRect/>
          </a:stretch>
        </p:blipFill>
        <p:spPr>
          <a:xfrm>
            <a:off x="311700" y="1017725"/>
            <a:ext cx="3497096" cy="386100"/>
          </a:xfrm>
          <a:prstGeom prst="rect">
            <a:avLst/>
          </a:prstGeom>
          <a:noFill/>
          <a:ln>
            <a:noFill/>
          </a:ln>
        </p:spPr>
      </p:pic>
      <p:pic>
        <p:nvPicPr>
          <p:cNvPr id="63" name="Google Shape;63;p14"/>
          <p:cNvPicPr preferRelativeResize="0"/>
          <p:nvPr/>
        </p:nvPicPr>
        <p:blipFill>
          <a:blip r:embed="rId4">
            <a:alphaModFix/>
          </a:blip>
          <a:stretch>
            <a:fillRect/>
          </a:stretch>
        </p:blipFill>
        <p:spPr>
          <a:xfrm>
            <a:off x="311699" y="1859050"/>
            <a:ext cx="3848404" cy="3132049"/>
          </a:xfrm>
          <a:prstGeom prst="rect">
            <a:avLst/>
          </a:prstGeom>
          <a:noFill/>
          <a:ln>
            <a:noFill/>
          </a:ln>
        </p:spPr>
      </p:pic>
      <p:sp>
        <p:nvSpPr>
          <p:cNvPr id="64" name="Google Shape;64;p14"/>
          <p:cNvSpPr txBox="1"/>
          <p:nvPr/>
        </p:nvSpPr>
        <p:spPr>
          <a:xfrm>
            <a:off x="4379225" y="1516750"/>
            <a:ext cx="2280300" cy="20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rPr>
              <a:t>With additional context</a:t>
            </a:r>
            <a:endParaRPr sz="1200">
              <a:solidFill>
                <a:schemeClr val="dk2"/>
              </a:solidFill>
            </a:endParaRPr>
          </a:p>
        </p:txBody>
      </p:sp>
      <p:pic>
        <p:nvPicPr>
          <p:cNvPr id="65" name="Google Shape;65;p14"/>
          <p:cNvPicPr preferRelativeResize="0"/>
          <p:nvPr/>
        </p:nvPicPr>
        <p:blipFill>
          <a:blip r:embed="rId5">
            <a:alphaModFix/>
          </a:blip>
          <a:stretch>
            <a:fillRect/>
          </a:stretch>
        </p:blipFill>
        <p:spPr>
          <a:xfrm>
            <a:off x="4312503" y="1873150"/>
            <a:ext cx="4026536" cy="31179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Query on Untrained Data</a:t>
            </a:r>
            <a:endParaRPr/>
          </a:p>
        </p:txBody>
      </p:sp>
      <p:sp>
        <p:nvSpPr>
          <p:cNvPr id="71" name="Google Shape;71;p15"/>
          <p:cNvSpPr txBox="1">
            <a:spLocks noGrp="1"/>
          </p:cNvSpPr>
          <p:nvPr>
            <p:ph type="body" idx="1"/>
          </p:nvPr>
        </p:nvSpPr>
        <p:spPr>
          <a:xfrm>
            <a:off x="311700" y="1465750"/>
            <a:ext cx="2217000" cy="383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1200"/>
              <a:t>Without additional context</a:t>
            </a:r>
            <a:endParaRPr sz="1200"/>
          </a:p>
        </p:txBody>
      </p:sp>
      <p:pic>
        <p:nvPicPr>
          <p:cNvPr id="72" name="Google Shape;72;p15"/>
          <p:cNvPicPr preferRelativeResize="0"/>
          <p:nvPr/>
        </p:nvPicPr>
        <p:blipFill>
          <a:blip r:embed="rId3">
            <a:alphaModFix/>
          </a:blip>
          <a:stretch>
            <a:fillRect/>
          </a:stretch>
        </p:blipFill>
        <p:spPr>
          <a:xfrm>
            <a:off x="311700" y="1017725"/>
            <a:ext cx="2084925" cy="383275"/>
          </a:xfrm>
          <a:prstGeom prst="rect">
            <a:avLst/>
          </a:prstGeom>
          <a:noFill/>
          <a:ln>
            <a:noFill/>
          </a:ln>
        </p:spPr>
      </p:pic>
      <p:sp>
        <p:nvSpPr>
          <p:cNvPr id="73" name="Google Shape;73;p15"/>
          <p:cNvSpPr txBox="1"/>
          <p:nvPr/>
        </p:nvSpPr>
        <p:spPr>
          <a:xfrm>
            <a:off x="4444775" y="1465750"/>
            <a:ext cx="2040000" cy="38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rPr>
              <a:t>With additional context</a:t>
            </a:r>
            <a:endParaRPr sz="1200">
              <a:solidFill>
                <a:schemeClr val="dk2"/>
              </a:solidFill>
            </a:endParaRPr>
          </a:p>
        </p:txBody>
      </p:sp>
      <p:pic>
        <p:nvPicPr>
          <p:cNvPr id="74" name="Google Shape;74;p15"/>
          <p:cNvPicPr preferRelativeResize="0"/>
          <p:nvPr/>
        </p:nvPicPr>
        <p:blipFill rotWithShape="1">
          <a:blip r:embed="rId4">
            <a:alphaModFix/>
          </a:blip>
          <a:srcRect r="3707" b="4379"/>
          <a:stretch/>
        </p:blipFill>
        <p:spPr>
          <a:xfrm>
            <a:off x="311700" y="1849150"/>
            <a:ext cx="4133075" cy="2195649"/>
          </a:xfrm>
          <a:prstGeom prst="rect">
            <a:avLst/>
          </a:prstGeom>
          <a:noFill/>
          <a:ln>
            <a:noFill/>
          </a:ln>
        </p:spPr>
      </p:pic>
      <p:pic>
        <p:nvPicPr>
          <p:cNvPr id="75" name="Google Shape;75;p15"/>
          <p:cNvPicPr preferRelativeResize="0"/>
          <p:nvPr/>
        </p:nvPicPr>
        <p:blipFill>
          <a:blip r:embed="rId5">
            <a:alphaModFix/>
          </a:blip>
          <a:stretch>
            <a:fillRect/>
          </a:stretch>
        </p:blipFill>
        <p:spPr>
          <a:xfrm>
            <a:off x="4572000" y="1849150"/>
            <a:ext cx="4235126" cy="178151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Two key limitations of traditional LLMs</a:t>
            </a:r>
            <a:endParaRPr/>
          </a:p>
        </p:txBody>
      </p:sp>
      <p:sp>
        <p:nvSpPr>
          <p:cNvPr id="81" name="Google Shape;81;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61950" algn="l" rtl="0">
              <a:spcBef>
                <a:spcPts val="0"/>
              </a:spcBef>
              <a:spcAft>
                <a:spcPts val="0"/>
              </a:spcAft>
              <a:buClr>
                <a:schemeClr val="dk1"/>
              </a:buClr>
              <a:buSzPts val="2100"/>
              <a:buChar char="●"/>
            </a:pPr>
            <a:r>
              <a:rPr lang="en" sz="2100" b="1">
                <a:solidFill>
                  <a:schemeClr val="dk1"/>
                </a:solidFill>
              </a:rPr>
              <a:t>Outdated training data</a:t>
            </a:r>
            <a:r>
              <a:rPr lang="en" sz="2100">
                <a:solidFill>
                  <a:schemeClr val="dk1"/>
                </a:solidFill>
              </a:rPr>
              <a:t>: LLMs are trained on static data, which can lead to inaccurate or outdated responses. </a:t>
            </a:r>
            <a:endParaRPr sz="2100">
              <a:solidFill>
                <a:schemeClr val="dk1"/>
              </a:solidFill>
            </a:endParaRPr>
          </a:p>
          <a:p>
            <a:pPr marL="457200" lvl="0" indent="0" algn="l" rtl="0">
              <a:spcBef>
                <a:spcPts val="1200"/>
              </a:spcBef>
              <a:spcAft>
                <a:spcPts val="0"/>
              </a:spcAft>
              <a:buNone/>
            </a:pPr>
            <a:endParaRPr sz="2100">
              <a:solidFill>
                <a:schemeClr val="dk1"/>
              </a:solidFill>
            </a:endParaRPr>
          </a:p>
          <a:p>
            <a:pPr marL="457200" lvl="0" indent="-361950" algn="l" rtl="0">
              <a:spcBef>
                <a:spcPts val="1200"/>
              </a:spcBef>
              <a:spcAft>
                <a:spcPts val="0"/>
              </a:spcAft>
              <a:buClr>
                <a:schemeClr val="dk1"/>
              </a:buClr>
              <a:buSzPts val="2100"/>
              <a:buChar char="●"/>
            </a:pPr>
            <a:r>
              <a:rPr lang="en" sz="2100" b="1">
                <a:solidFill>
                  <a:schemeClr val="dk1"/>
                </a:solidFill>
              </a:rPr>
              <a:t>Hallucinations</a:t>
            </a:r>
            <a:r>
              <a:rPr lang="en" sz="2100">
                <a:solidFill>
                  <a:schemeClr val="dk1"/>
                </a:solidFill>
              </a:rPr>
              <a:t>: LLMs may extrapolate or make false statements when facts are unavailable.</a:t>
            </a:r>
            <a:endParaRPr sz="21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is a Knowledge Base?</a:t>
            </a:r>
            <a:endParaRPr/>
          </a:p>
        </p:txBody>
      </p:sp>
      <p:sp>
        <p:nvSpPr>
          <p:cNvPr id="87" name="Google Shape;87;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000">
                <a:solidFill>
                  <a:schemeClr val="dk1"/>
                </a:solidFill>
              </a:rPr>
              <a:t>A RAG knowledge base is a specialized, external, and up-to-date repository (like PDFs, databases, or wikis) used by AI to find accurate information before answering. It acts as "trusted memory," allowing models to retrieve specific facts, reducing hallucinations, and ensuring responses are relevant and factual. </a:t>
            </a:r>
            <a:endParaRPr sz="2000">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Why is a Knowledge Base important?</a:t>
            </a:r>
            <a:endParaRPr/>
          </a:p>
        </p:txBody>
      </p:sp>
      <p:sp>
        <p:nvSpPr>
          <p:cNvPr id="93" name="Google Shape;93;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55600" algn="l" rtl="0">
              <a:spcBef>
                <a:spcPts val="1000"/>
              </a:spcBef>
              <a:spcAft>
                <a:spcPts val="0"/>
              </a:spcAft>
              <a:buClr>
                <a:schemeClr val="dk1"/>
              </a:buClr>
              <a:buSzPts val="2000"/>
              <a:buChar char="●"/>
            </a:pPr>
            <a:r>
              <a:rPr lang="en" sz="2000">
                <a:solidFill>
                  <a:schemeClr val="dk1"/>
                </a:solidFill>
              </a:rPr>
              <a:t>Eliminating Hallucinations and Ensuring Reliability</a:t>
            </a:r>
            <a:endParaRPr sz="2000">
              <a:solidFill>
                <a:schemeClr val="dk1"/>
              </a:solidFill>
            </a:endParaRPr>
          </a:p>
          <a:p>
            <a:pPr marL="457200" lvl="0" indent="-355600" algn="l" rtl="0">
              <a:spcBef>
                <a:spcPts val="1200"/>
              </a:spcBef>
              <a:spcAft>
                <a:spcPts val="0"/>
              </a:spcAft>
              <a:buClr>
                <a:schemeClr val="dk1"/>
              </a:buClr>
              <a:buSzPts val="2000"/>
              <a:buChar char="●"/>
            </a:pPr>
            <a:r>
              <a:rPr lang="en" sz="2000">
                <a:solidFill>
                  <a:schemeClr val="dk1"/>
                </a:solidFill>
              </a:rPr>
              <a:t>Contextual accuracy</a:t>
            </a:r>
            <a:endParaRPr sz="2000">
              <a:solidFill>
                <a:schemeClr val="dk1"/>
              </a:solidFill>
            </a:endParaRPr>
          </a:p>
          <a:p>
            <a:pPr marL="457200" lvl="0" indent="-355600" algn="l" rtl="0">
              <a:spcBef>
                <a:spcPts val="1000"/>
              </a:spcBef>
              <a:spcAft>
                <a:spcPts val="1200"/>
              </a:spcAft>
              <a:buClr>
                <a:schemeClr val="dk1"/>
              </a:buClr>
              <a:buSzPts val="2000"/>
              <a:buChar char="●"/>
            </a:pPr>
            <a:r>
              <a:rPr lang="en" sz="2000">
                <a:solidFill>
                  <a:schemeClr val="dk1"/>
                </a:solidFill>
              </a:rPr>
              <a:t>Managing Dynamic and Proprietary Data</a:t>
            </a:r>
            <a:endParaRPr sz="20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9" title="kb-features.png"/>
          <p:cNvPicPr preferRelativeResize="0"/>
          <p:nvPr/>
        </p:nvPicPr>
        <p:blipFill>
          <a:blip r:embed="rId3">
            <a:alphaModFix/>
          </a:blip>
          <a:stretch>
            <a:fillRect/>
          </a:stretch>
        </p:blipFill>
        <p:spPr>
          <a:xfrm>
            <a:off x="392100" y="763575"/>
            <a:ext cx="8359798" cy="31063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pic>
        <p:nvPicPr>
          <p:cNvPr id="103" name="Google Shape;103;p20"/>
          <p:cNvPicPr preferRelativeResize="0"/>
          <p:nvPr/>
        </p:nvPicPr>
        <p:blipFill>
          <a:blip r:embed="rId3">
            <a:alphaModFix/>
          </a:blip>
          <a:stretch>
            <a:fillRect/>
          </a:stretch>
        </p:blipFill>
        <p:spPr>
          <a:xfrm>
            <a:off x="2549275" y="451100"/>
            <a:ext cx="4255976" cy="1351900"/>
          </a:xfrm>
          <a:prstGeom prst="rect">
            <a:avLst/>
          </a:prstGeom>
          <a:noFill/>
          <a:ln>
            <a:noFill/>
          </a:ln>
        </p:spPr>
      </p:pic>
      <p:pic>
        <p:nvPicPr>
          <p:cNvPr id="104" name="Google Shape;104;p20"/>
          <p:cNvPicPr preferRelativeResize="0"/>
          <p:nvPr/>
        </p:nvPicPr>
        <p:blipFill>
          <a:blip r:embed="rId4">
            <a:alphaModFix/>
          </a:blip>
          <a:stretch>
            <a:fillRect/>
          </a:stretch>
        </p:blipFill>
        <p:spPr>
          <a:xfrm>
            <a:off x="2080825" y="1932250"/>
            <a:ext cx="6672501" cy="2779350"/>
          </a:xfrm>
          <a:prstGeom prst="rect">
            <a:avLst/>
          </a:prstGeom>
          <a:noFill/>
          <a:ln>
            <a:noFill/>
          </a:ln>
        </p:spPr>
      </p:pic>
      <p:sp>
        <p:nvSpPr>
          <p:cNvPr id="105" name="Google Shape;105;p20"/>
          <p:cNvSpPr txBox="1"/>
          <p:nvPr/>
        </p:nvSpPr>
        <p:spPr>
          <a:xfrm>
            <a:off x="273925" y="908500"/>
            <a:ext cx="1806900" cy="43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Offline Phase</a:t>
            </a:r>
            <a:endParaRPr sz="1800">
              <a:solidFill>
                <a:schemeClr val="dk1"/>
              </a:solidFill>
            </a:endParaRPr>
          </a:p>
        </p:txBody>
      </p:sp>
      <p:sp>
        <p:nvSpPr>
          <p:cNvPr id="106" name="Google Shape;106;p20"/>
          <p:cNvSpPr txBox="1"/>
          <p:nvPr/>
        </p:nvSpPr>
        <p:spPr>
          <a:xfrm>
            <a:off x="273925" y="3045025"/>
            <a:ext cx="1581000" cy="55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Online Phase</a:t>
            </a:r>
            <a:endParaRPr sz="1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1" name="Google Shape;111;p21"/>
          <p:cNvPicPr preferRelativeResize="0"/>
          <p:nvPr/>
        </p:nvPicPr>
        <p:blipFill>
          <a:blip r:embed="rId3">
            <a:alphaModFix/>
          </a:blip>
          <a:stretch>
            <a:fillRect/>
          </a:stretch>
        </p:blipFill>
        <p:spPr>
          <a:xfrm>
            <a:off x="152400" y="589525"/>
            <a:ext cx="8839204" cy="377651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Types of features of KBs based on architecture</a:t>
            </a:r>
            <a:endParaRPr/>
          </a:p>
        </p:txBody>
      </p:sp>
      <p:sp>
        <p:nvSpPr>
          <p:cNvPr id="117" name="Google Shape;117;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900">
                <a:solidFill>
                  <a:schemeClr val="dk1"/>
                </a:solidFill>
              </a:rPr>
              <a:t>Meaning-based search -&gt; </a:t>
            </a:r>
            <a:r>
              <a:rPr lang="en" sz="1900" b="1">
                <a:solidFill>
                  <a:schemeClr val="dk1"/>
                </a:solidFill>
              </a:rPr>
              <a:t>Vector database</a:t>
            </a:r>
            <a:endParaRPr sz="1900" b="1">
              <a:solidFill>
                <a:schemeClr val="dk1"/>
              </a:solidFill>
            </a:endParaRPr>
          </a:p>
          <a:p>
            <a:pPr marL="0" lvl="0" indent="0" algn="l" rtl="0">
              <a:spcBef>
                <a:spcPts val="1200"/>
              </a:spcBef>
              <a:spcAft>
                <a:spcPts val="0"/>
              </a:spcAft>
              <a:buNone/>
            </a:pPr>
            <a:r>
              <a:rPr lang="en" sz="1900">
                <a:solidFill>
                  <a:schemeClr val="dk1"/>
                </a:solidFill>
              </a:rPr>
              <a:t>Context of situation (time, source, user, tags) -&gt; </a:t>
            </a:r>
            <a:r>
              <a:rPr lang="en" sz="1900" b="1">
                <a:solidFill>
                  <a:schemeClr val="dk1"/>
                </a:solidFill>
              </a:rPr>
              <a:t>Metadata indexing</a:t>
            </a:r>
            <a:endParaRPr sz="1900" b="1">
              <a:solidFill>
                <a:schemeClr val="dk1"/>
              </a:solidFill>
            </a:endParaRPr>
          </a:p>
          <a:p>
            <a:pPr marL="0" lvl="0" indent="0" algn="l" rtl="0">
              <a:spcBef>
                <a:spcPts val="1200"/>
              </a:spcBef>
              <a:spcAft>
                <a:spcPts val="0"/>
              </a:spcAft>
              <a:buNone/>
            </a:pPr>
            <a:r>
              <a:rPr lang="en" sz="1900">
                <a:solidFill>
                  <a:schemeClr val="dk1"/>
                </a:solidFill>
              </a:rPr>
              <a:t>Exact values, records, IDs -&gt; </a:t>
            </a:r>
            <a:r>
              <a:rPr lang="en" sz="1900" b="1">
                <a:solidFill>
                  <a:schemeClr val="dk1"/>
                </a:solidFill>
              </a:rPr>
              <a:t>Relational database</a:t>
            </a:r>
            <a:endParaRPr sz="1900" b="1">
              <a:solidFill>
                <a:schemeClr val="dk1"/>
              </a:solidFill>
            </a:endParaRPr>
          </a:p>
          <a:p>
            <a:pPr marL="0" lvl="0" indent="0" algn="l" rtl="0">
              <a:spcBef>
                <a:spcPts val="1200"/>
              </a:spcBef>
              <a:spcAft>
                <a:spcPts val="0"/>
              </a:spcAft>
              <a:buNone/>
            </a:pPr>
            <a:r>
              <a:rPr lang="en" sz="1900">
                <a:solidFill>
                  <a:schemeClr val="dk1"/>
                </a:solidFill>
              </a:rPr>
              <a:t>Keyword or phrase matching -&gt; </a:t>
            </a:r>
            <a:r>
              <a:rPr lang="en" sz="1900" b="1">
                <a:solidFill>
                  <a:schemeClr val="dk1"/>
                </a:solidFill>
              </a:rPr>
              <a:t>Inverted index / search engine</a:t>
            </a:r>
            <a:endParaRPr sz="1900" b="1">
              <a:solidFill>
                <a:schemeClr val="dk1"/>
              </a:solidFill>
            </a:endParaRPr>
          </a:p>
          <a:p>
            <a:pPr marL="0" lvl="0" indent="0" algn="l" rtl="0">
              <a:spcBef>
                <a:spcPts val="1200"/>
              </a:spcBef>
              <a:spcAft>
                <a:spcPts val="0"/>
              </a:spcAft>
              <a:buNone/>
            </a:pPr>
            <a:r>
              <a:rPr lang="en" sz="1900">
                <a:solidFill>
                  <a:schemeClr val="dk1"/>
                </a:solidFill>
              </a:rPr>
              <a:t>Multi-hop reasoning -&gt; </a:t>
            </a:r>
            <a:r>
              <a:rPr lang="en" sz="1900" b="1">
                <a:solidFill>
                  <a:schemeClr val="dk1"/>
                </a:solidFill>
              </a:rPr>
              <a:t>Knowledge graph</a:t>
            </a:r>
            <a:endParaRPr sz="1900" b="1">
              <a:solidFill>
                <a:schemeClr val="dk1"/>
              </a:solidFill>
            </a:endParaRPr>
          </a:p>
          <a:p>
            <a:pPr marL="0" lvl="0" indent="0" algn="l" rtl="0">
              <a:spcBef>
                <a:spcPts val="1200"/>
              </a:spcBef>
              <a:spcAft>
                <a:spcPts val="0"/>
              </a:spcAft>
              <a:buNone/>
            </a:pPr>
            <a:r>
              <a:rPr lang="en" sz="1900">
                <a:solidFill>
                  <a:schemeClr val="dk1"/>
                </a:solidFill>
              </a:rPr>
              <a:t>Hierarchies and relationships -&gt; </a:t>
            </a:r>
            <a:r>
              <a:rPr lang="en" sz="1900" b="1">
                <a:solidFill>
                  <a:schemeClr val="dk1"/>
                </a:solidFill>
              </a:rPr>
              <a:t>Graph / ontology-based KB</a:t>
            </a:r>
            <a:endParaRPr sz="1900" b="1">
              <a:solidFill>
                <a:schemeClr val="dk1"/>
              </a:solidFill>
            </a:endParaRPr>
          </a:p>
          <a:p>
            <a:pPr marL="0" lvl="0" indent="0" algn="l" rtl="0">
              <a:spcBef>
                <a:spcPts val="1200"/>
              </a:spcBef>
              <a:spcAft>
                <a:spcPts val="1200"/>
              </a:spcAft>
              <a:buNone/>
            </a:pPr>
            <a:r>
              <a:rPr lang="en" sz="1900">
                <a:solidFill>
                  <a:schemeClr val="dk1"/>
                </a:solidFill>
              </a:rPr>
              <a:t>Combining accuracy + semantics -&gt; </a:t>
            </a:r>
            <a:r>
              <a:rPr lang="en" sz="1900" b="1">
                <a:solidFill>
                  <a:schemeClr val="dk1"/>
                </a:solidFill>
              </a:rPr>
              <a:t>Hybrid architecture</a:t>
            </a:r>
            <a:endParaRPr sz="1900" b="1">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Conclusion</a:t>
            </a:r>
            <a:endParaRPr/>
          </a:p>
        </p:txBody>
      </p:sp>
      <p:sp>
        <p:nvSpPr>
          <p:cNvPr id="123" name="Google Shape;123;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
                <a:solidFill>
                  <a:schemeClr val="dk1"/>
                </a:solidFill>
              </a:rPr>
              <a:t>Knowledge bases are important because they make AI systems more accurate, contextual, and reliable</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They organize documents, metadata, structured data, and relationships into a usable knowledge source</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In the future, knowledge bases will support enterprise search, domain-specific assistants, decision support, and multi-step reasoning</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As AI systems grow, knowledge bases will become a key foundation for scalable and trustworthy intelligent applications</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References</a:t>
            </a:r>
            <a:endParaRPr/>
          </a:p>
        </p:txBody>
      </p:sp>
      <p:sp>
        <p:nvSpPr>
          <p:cNvPr id="129" name="Google Shape;129;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u="sng">
                <a:solidFill>
                  <a:schemeClr val="hlink"/>
                </a:solidFill>
                <a:hlinkClick r:id="rId3"/>
              </a:rPr>
              <a:t>https://community.n8n.io/t/building-an-ai-assistant-with-my-own-knowledge-base/40255</a:t>
            </a:r>
            <a:endParaRPr/>
          </a:p>
          <a:p>
            <a:pPr marL="457200" lvl="0" indent="-342900" algn="l" rtl="0">
              <a:spcBef>
                <a:spcPts val="0"/>
              </a:spcBef>
              <a:spcAft>
                <a:spcPts val="0"/>
              </a:spcAft>
              <a:buSzPts val="1800"/>
              <a:buChar char="●"/>
            </a:pPr>
            <a:r>
              <a:rPr lang="en" u="sng">
                <a:solidFill>
                  <a:schemeClr val="hlink"/>
                </a:solidFill>
                <a:hlinkClick r:id="rId4"/>
              </a:rPr>
              <a:t>https://loisto.ai/experience/turn-your-internal-knowledge-base-to-an-intelligent-assistant</a:t>
            </a:r>
            <a:endParaRPr/>
          </a:p>
          <a:p>
            <a:pPr marL="457200" lvl="0" indent="-342900" algn="l" rtl="0">
              <a:spcBef>
                <a:spcPts val="0"/>
              </a:spcBef>
              <a:spcAft>
                <a:spcPts val="0"/>
              </a:spcAft>
              <a:buSzPts val="1800"/>
              <a:buChar char="●"/>
            </a:pPr>
            <a:r>
              <a:rPr lang="en" u="sng">
                <a:solidFill>
                  <a:schemeClr val="hlink"/>
                </a:solidFill>
                <a:hlinkClick r:id="rId5"/>
              </a:rPr>
              <a:t>https://building.nubank.com/ai-solution-for-search/</a:t>
            </a:r>
            <a:endParaRPr/>
          </a:p>
          <a:p>
            <a:pPr marL="457200" lvl="0" indent="-342900" algn="l" rtl="0">
              <a:spcBef>
                <a:spcPts val="0"/>
              </a:spcBef>
              <a:spcAft>
                <a:spcPts val="0"/>
              </a:spcAft>
              <a:buSzPts val="1800"/>
              <a:buChar char="●"/>
            </a:pPr>
            <a:r>
              <a:rPr lang="en" u="sng">
                <a:solidFill>
                  <a:schemeClr val="hlink"/>
                </a:solidFill>
                <a:hlinkClick r:id="rId6"/>
              </a:rPr>
              <a:t>https://www.zendesk.com/in/service/help-center/ai-knowledge-base/</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344</Words>
  <Application>Microsoft Office PowerPoint</Application>
  <PresentationFormat>On-screen Show (16:9)</PresentationFormat>
  <Paragraphs>39</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Arial</vt:lpstr>
      <vt:lpstr>Simple Light</vt:lpstr>
      <vt:lpstr>Knowledge Storage for Retrieval Augmented Generation</vt:lpstr>
      <vt:lpstr>Query on trained data </vt:lpstr>
      <vt:lpstr>Query on Untrained Data</vt:lpstr>
      <vt:lpstr>Two key limitations of traditional LLMs</vt:lpstr>
      <vt:lpstr>What is a Knowledge Base?</vt:lpstr>
      <vt:lpstr>Why is a Knowledge Base important?</vt:lpstr>
      <vt:lpstr>PowerPoint Presentation</vt:lpstr>
      <vt:lpstr>PowerPoint Presentation</vt:lpstr>
      <vt:lpstr>PowerPoint Presentation</vt:lpstr>
      <vt:lpstr>Types of features of KBs based on architecture</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Asmit Kumar Tyagi</cp:lastModifiedBy>
  <cp:revision>1</cp:revision>
  <dcterms:modified xsi:type="dcterms:W3CDTF">2026-03-18T05:02:09Z</dcterms:modified>
</cp:coreProperties>
</file>